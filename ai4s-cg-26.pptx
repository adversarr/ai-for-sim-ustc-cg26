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74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5068E81-A72E-7244-9920-D413D395EB08}">
          <p14:sldIdLst>
            <p14:sldId id="256"/>
            <p14:sldId id="257"/>
          </p14:sldIdLst>
        </p14:section>
        <p14:section name="Introduction" id="{BA0DED3E-3CC7-8E47-BFCF-E832A177B850}">
          <p14:sldIdLst>
            <p14:sldId id="258"/>
            <p14:sldId id="259"/>
            <p14:sldId id="274"/>
            <p14:sldId id="260"/>
          </p14:sldIdLst>
        </p14:section>
        <p14:section name="Implicit Neural Representation (INRs)" id="{68427A2F-9714-284F-A85A-C94367582105}">
          <p14:sldIdLst>
            <p14:sldId id="261"/>
            <p14:sldId id="262"/>
            <p14:sldId id="263"/>
          </p14:sldIdLst>
        </p14:section>
        <p14:section name="End-to-End Solver" id="{BAB37E67-AAC2-F046-9F79-1A3DFDDCC3BC}">
          <p14:sldIdLst>
            <p14:sldId id="264"/>
            <p14:sldId id="265"/>
            <p14:sldId id="266"/>
            <p14:sldId id="267"/>
          </p14:sldIdLst>
        </p14:section>
        <p14:section name="AI aided solvers (e.g. Preconditioner)" id="{DC3B47FA-F5F7-614B-9415-0315DC197F4E}">
          <p14:sldIdLst>
            <p14:sldId id="268"/>
            <p14:sldId id="269"/>
            <p14:sldId id="270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2"/>
    <p:restoredTop sz="94700"/>
  </p:normalViewPr>
  <p:slideViewPr>
    <p:cSldViewPr snapToGrid="0" snapToObjects="1">
      <p:cViewPr varScale="1">
        <p:scale>
          <a:sx n="123" d="100"/>
          <a:sy n="123" d="100"/>
        </p:scale>
        <p:origin x="224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4120D3-7A8E-C949-99B8-124B8F561F9D}" type="datetimeFigureOut">
              <a:rPr lang="en-CN" smtClean="0"/>
              <a:t>2026/4/8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E2D74E-B2AB-9A40-AC6A-2E5B03E4CA7B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406114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E2D74E-B2AB-9A40-AC6A-2E5B03E4CA7B}" type="slidenum">
              <a:rPr lang="en-CN" smtClean="0"/>
              <a:t>3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4202729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6EB4C-5E55-B943-86EA-963C53E3DEBF}" type="datetimeFigureOut">
              <a:rPr lang="en-CN" smtClean="0"/>
              <a:t>2026/4/8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ADBC2D-E96D-2545-9307-2314DCDF886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36500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6EB4C-5E55-B943-86EA-963C53E3DEBF}" type="datetimeFigureOut">
              <a:rPr lang="en-CN" smtClean="0"/>
              <a:t>2026/4/8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ADBC2D-E96D-2545-9307-2314DCDF886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3107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6EB4C-5E55-B943-86EA-963C53E3DEBF}" type="datetimeFigureOut">
              <a:rPr lang="en-CN" smtClean="0"/>
              <a:t>2026/4/8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ADBC2D-E96D-2545-9307-2314DCDF886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301138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6EB4C-5E55-B943-86EA-963C53E3DEBF}" type="datetimeFigureOut">
              <a:rPr lang="en-CN" smtClean="0"/>
              <a:t>2026/4/8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ADBC2D-E96D-2545-9307-2314DCDF886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952141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6EB4C-5E55-B943-86EA-963C53E3DEBF}" type="datetimeFigureOut">
              <a:rPr lang="en-CN" smtClean="0"/>
              <a:t>2026/4/8</a:t>
            </a:fld>
            <a:endParaRPr lang="en-C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ADBC2D-E96D-2545-9307-2314DCDF886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6716335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6EB4C-5E55-B943-86EA-963C53E3DEBF}" type="datetimeFigureOut">
              <a:rPr lang="en-CN" smtClean="0"/>
              <a:t>2026/4/8</a:t>
            </a:fld>
            <a:endParaRPr lang="en-C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ADBC2D-E96D-2545-9307-2314DCDF886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68268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6EB4C-5E55-B943-86EA-963C53E3DEBF}" type="datetimeFigureOut">
              <a:rPr lang="en-CN" smtClean="0"/>
              <a:t>2026/4/8</a:t>
            </a:fld>
            <a:endParaRPr lang="en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ADBC2D-E96D-2545-9307-2314DCDF886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35046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6EB4C-5E55-B943-86EA-963C53E3DEBF}" type="datetimeFigureOut">
              <a:rPr lang="en-CN" smtClean="0"/>
              <a:t>2026/4/8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ADBC2D-E96D-2545-9307-2314DCDF886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983769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6EB4C-5E55-B943-86EA-963C53E3DEBF}" type="datetimeFigureOut">
              <a:rPr lang="en-CN" smtClean="0"/>
              <a:t>2026/4/8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ADBC2D-E96D-2545-9307-2314DCDF886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02007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6EB4C-5E55-B943-86EA-963C53E3DEBF}" type="datetimeFigureOut">
              <a:rPr lang="en-CN" smtClean="0"/>
              <a:t>2026/4/8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ADBC2D-E96D-2545-9307-2314DCDF886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809470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6EB4C-5E55-B943-86EA-963C53E3DEBF}" type="datetimeFigureOut">
              <a:rPr lang="en-CN" smtClean="0"/>
              <a:t>2026/4/8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ADBC2D-E96D-2545-9307-2314DCDF886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746059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16EB4C-5E55-B943-86EA-963C53E3DEBF}" type="datetimeFigureOut">
              <a:rPr lang="en-CN" smtClean="0"/>
              <a:t>2026/4/8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ADBC2D-E96D-2545-9307-2314DCDF886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88149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07F69-7B9B-7E41-987F-3F0EC05A9E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N" dirty="0">
                <a:latin typeface="Calibri" panose="020F0502020204030204" pitchFamily="34" charset="0"/>
                <a:cs typeface="Calibri" panose="020F0502020204030204" pitchFamily="34" charset="0"/>
              </a:rPr>
              <a:t>AI for Simulation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625356-3E7A-4C47-8743-6CE631310C5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N" dirty="0"/>
              <a:t>Three easy pieces</a:t>
            </a:r>
          </a:p>
        </p:txBody>
      </p:sp>
    </p:spTree>
    <p:extLst>
      <p:ext uri="{BB962C8B-B14F-4D97-AF65-F5344CB8AC3E}">
        <p14:creationId xmlns:p14="http://schemas.microsoft.com/office/powerpoint/2010/main" val="4131220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5F36A-0B1A-9540-A6E6-E8DA83325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96507-E6DE-2E4F-AC96-CF05001389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84520" cy="4351338"/>
          </a:xfrm>
        </p:spPr>
        <p:txBody>
          <a:bodyPr/>
          <a:lstStyle/>
          <a:p>
            <a:r>
              <a:rPr lang="en-CN" dirty="0"/>
              <a:t>Introduction: a digital world model in your computer</a:t>
            </a:r>
          </a:p>
          <a:p>
            <a:r>
              <a:rPr lang="en-CN" dirty="0"/>
              <a:t>AI for Simulation:</a:t>
            </a:r>
          </a:p>
          <a:p>
            <a:pPr lvl="1"/>
            <a:r>
              <a:rPr lang="en-CN" dirty="0"/>
              <a:t>Implicit Neural Representations (INRs)</a:t>
            </a:r>
          </a:p>
          <a:p>
            <a:pPr lvl="1"/>
            <a:r>
              <a:rPr lang="en-CN" dirty="0"/>
              <a:t>End-to-end Neural Simulator</a:t>
            </a:r>
          </a:p>
          <a:p>
            <a:pPr lvl="1"/>
            <a:r>
              <a:rPr lang="en-CN" dirty="0"/>
              <a:t>Learned aids for existing simulator/solver</a:t>
            </a:r>
          </a:p>
          <a:p>
            <a:r>
              <a:rPr lang="en-CN" dirty="0"/>
              <a:t>Conclusion &amp; Future works</a:t>
            </a:r>
          </a:p>
        </p:txBody>
      </p:sp>
    </p:spTree>
    <p:extLst>
      <p:ext uri="{BB962C8B-B14F-4D97-AF65-F5344CB8AC3E}">
        <p14:creationId xmlns:p14="http://schemas.microsoft.com/office/powerpoint/2010/main" val="42028679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0ADB-512A-5447-8CAB-B1A2041C3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Introduction: World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02550-5983-EE4A-B67B-C4A65C86C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is important:</a:t>
            </a:r>
          </a:p>
          <a:p>
            <a:r>
              <a:rPr lang="en-US" b="1" dirty="0"/>
              <a:t>Perceive</a:t>
            </a:r>
            <a:r>
              <a:rPr lang="en-US" dirty="0"/>
              <a:t>: abstract the external world to gain a deep understanding of its underlying mechanisms</a:t>
            </a:r>
          </a:p>
          <a:p>
            <a:r>
              <a:rPr lang="en-US" b="1" dirty="0"/>
              <a:t>Predict</a:t>
            </a:r>
            <a:r>
              <a:rPr lang="en-US" dirty="0"/>
              <a:t>: possess the capacity to envision possible future states to inform decision-making.</a:t>
            </a:r>
          </a:p>
          <a:p>
            <a:pPr marL="0" indent="0">
              <a:buNone/>
            </a:pPr>
            <a:r>
              <a:rPr lang="en-US" dirty="0"/>
              <a:t>How to (the classical way):</a:t>
            </a:r>
          </a:p>
          <a:p>
            <a:r>
              <a:rPr lang="en-CN" b="1" dirty="0"/>
              <a:t>Derive from physics laws</a:t>
            </a:r>
            <a:r>
              <a:rPr lang="en-CN" dirty="0"/>
              <a:t>:  from </a:t>
            </a:r>
            <a:r>
              <a:rPr lang="en-CN" dirty="0">
                <a:solidFill>
                  <a:srgbClr val="0070C0"/>
                </a:solidFill>
              </a:rPr>
              <a:t>Newton’s Laws, </a:t>
            </a:r>
            <a:r>
              <a:rPr lang="en-US" dirty="0">
                <a:solidFill>
                  <a:srgbClr val="0070C0"/>
                </a:solidFill>
              </a:rPr>
              <a:t>constitutive equations, and</a:t>
            </a:r>
            <a:r>
              <a:rPr kumimoji="0" lang="en-CN" sz="2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PDEs</a:t>
            </a:r>
            <a:r>
              <a:rPr lang="en-CN" dirty="0"/>
              <a:t> to </a:t>
            </a:r>
            <a:r>
              <a:rPr kumimoji="0" lang="en-CN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discretized ODE/linear systems</a:t>
            </a:r>
            <a:endParaRPr lang="en-CN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9882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0ADB-512A-5447-8CAB-B1A2041C3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Example: Double Pendulum</a:t>
            </a:r>
          </a:p>
        </p:txBody>
      </p:sp>
      <p:sp>
        <p:nvSpPr>
          <p:cNvPr id="5" name="DiscreteSolverCaption"/>
          <p:cNvSpPr txBox="1"/>
          <p:nvPr/>
        </p:nvSpPr>
        <p:spPr>
          <a:xfrm>
            <a:off x="8830411" y="4086374"/>
            <a:ext cx="31590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 err="1"/>
              <a:t>Run</a:t>
            </a:r>
            <a:r>
              <a:rPr sz="1200" dirty="0" err="1"/>
              <a:t>`</a:t>
            </a:r>
            <a:r>
              <a:rPr lang="en-US" sz="1200" dirty="0" err="1"/>
              <a:t>python</a:t>
            </a:r>
            <a:r>
              <a:rPr lang="en-US" sz="1200" dirty="0"/>
              <a:t> 00-discrete-solver/</a:t>
            </a:r>
            <a:r>
              <a:rPr lang="en-US" sz="1200" dirty="0" err="1"/>
              <a:t>simulate.py</a:t>
            </a:r>
            <a:r>
              <a:rPr sz="1200" dirty="0"/>
              <a:t>`.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9AE1F5B-EA15-DD4D-87CC-ECC6A4E2D5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7918" y="522292"/>
            <a:ext cx="3564082" cy="3564082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7DE32C6-9930-DD43-95BD-6356B6FAD0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68045" cy="4351338"/>
          </a:xfrm>
        </p:spPr>
        <p:txBody>
          <a:bodyPr/>
          <a:lstStyle/>
          <a:p>
            <a:r>
              <a:rPr lang="en-US" b="1" dirty="0"/>
              <a:t>Physical law</a:t>
            </a:r>
            <a:r>
              <a:rPr lang="en-US" dirty="0"/>
              <a:t>: Newton/Lagrange mechanics gives coupled nonlinear </a:t>
            </a:r>
            <a:r>
              <a:rPr lang="en-US" dirty="0">
                <a:solidFill>
                  <a:srgbClr val="0070C0"/>
                </a:solidFill>
              </a:rPr>
              <a:t>ODEs</a:t>
            </a:r>
            <a:r>
              <a:rPr lang="en-US" dirty="0"/>
              <a:t> for the two joint angles.</a:t>
            </a:r>
          </a:p>
          <a:p>
            <a:r>
              <a:rPr lang="en-US" b="1" dirty="0"/>
              <a:t>Simulation</a:t>
            </a:r>
            <a:r>
              <a:rPr lang="en-US" dirty="0"/>
              <a:t>: choose parameters and initial angles/velocities, then compute the ODE forward in time via </a:t>
            </a:r>
            <a:r>
              <a:rPr lang="en-US" dirty="0">
                <a:solidFill>
                  <a:srgbClr val="FF0000"/>
                </a:solidFill>
              </a:rPr>
              <a:t>numerical integration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(e.g. Euler, RK)</a:t>
            </a: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16E72ED-6A45-0B4D-989C-F7AC03ADD9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436" y="4552914"/>
            <a:ext cx="10433112" cy="178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8654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0ADB-512A-5447-8CAB-B1A2041C3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Example: Double Pendulum</a:t>
            </a:r>
            <a:r>
              <a:rPr lang="en-US" dirty="0"/>
              <a:t> (Cont.)</a:t>
            </a:r>
            <a:endParaRPr dirty="0"/>
          </a:p>
        </p:txBody>
      </p:sp>
      <p:sp>
        <p:nvSpPr>
          <p:cNvPr id="7" name="DiscreteSolverCaption">
            <a:extLst>
              <a:ext uri="{FF2B5EF4-FFF2-40B4-BE49-F238E27FC236}">
                <a16:creationId xmlns:a16="http://schemas.microsoft.com/office/drawing/2014/main" id="{35C39CB3-F28E-9C48-8D5B-EC225191D647}"/>
              </a:ext>
            </a:extLst>
          </p:cNvPr>
          <p:cNvSpPr txBox="1"/>
          <p:nvPr/>
        </p:nvSpPr>
        <p:spPr>
          <a:xfrm>
            <a:off x="8830411" y="5367580"/>
            <a:ext cx="31590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 err="1"/>
              <a:t>Run</a:t>
            </a:r>
            <a:r>
              <a:rPr sz="1200" dirty="0" err="1"/>
              <a:t>`</a:t>
            </a:r>
            <a:r>
              <a:rPr lang="en-US" sz="1200" dirty="0" err="1"/>
              <a:t>python</a:t>
            </a:r>
            <a:r>
              <a:rPr lang="en-US" sz="1200" dirty="0"/>
              <a:t> 00-discrete-solver/</a:t>
            </a:r>
            <a:r>
              <a:rPr lang="en-US" sz="1200" dirty="0" err="1"/>
              <a:t>simulate.py</a:t>
            </a:r>
            <a:r>
              <a:rPr sz="1200" dirty="0"/>
              <a:t>`.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5EED1D7-C6FF-3B46-AB68-5DAFAF152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7918" y="1803498"/>
            <a:ext cx="3564082" cy="35640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7108B78-0916-7048-B1ED-A315013FC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03498"/>
            <a:ext cx="6840682" cy="464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041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0ADB-512A-5447-8CAB-B1A2041C3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Introduction: World Model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02550-5983-EE4A-B67B-C4A65C86C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is important:</a:t>
            </a:r>
          </a:p>
          <a:p>
            <a:r>
              <a:rPr lang="en-US" b="1" dirty="0"/>
              <a:t>Perceive</a:t>
            </a:r>
            <a:r>
              <a:rPr lang="en-US" dirty="0"/>
              <a:t>: abstract the external world to gain a deep understanding of its underlying mechanisms</a:t>
            </a:r>
          </a:p>
          <a:p>
            <a:r>
              <a:rPr lang="en-US" b="1" dirty="0"/>
              <a:t>Predict</a:t>
            </a:r>
            <a:r>
              <a:rPr lang="en-US" dirty="0"/>
              <a:t>: possess the capacity to envision possible future states to inform decision-making.</a:t>
            </a:r>
          </a:p>
          <a:p>
            <a:pPr marL="0" indent="0">
              <a:buNone/>
            </a:pPr>
            <a:r>
              <a:rPr lang="en-US" dirty="0"/>
              <a:t>How to (the classical way):</a:t>
            </a:r>
          </a:p>
          <a:p>
            <a:r>
              <a:rPr lang="en-CN" b="1" dirty="0"/>
              <a:t>Derive from physics laws</a:t>
            </a:r>
            <a:r>
              <a:rPr lang="en-CN" dirty="0"/>
              <a:t>:  from </a:t>
            </a:r>
            <a:r>
              <a:rPr lang="en-CN" dirty="0">
                <a:solidFill>
                  <a:srgbClr val="0070C0"/>
                </a:solidFill>
              </a:rPr>
              <a:t>Newton’s Laws, </a:t>
            </a:r>
            <a:r>
              <a:rPr lang="en-US" dirty="0">
                <a:solidFill>
                  <a:srgbClr val="0070C0"/>
                </a:solidFill>
              </a:rPr>
              <a:t>constitutive equations, and</a:t>
            </a:r>
            <a:r>
              <a:rPr kumimoji="0" lang="en-CN" sz="2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PDEs</a:t>
            </a:r>
            <a:r>
              <a:rPr lang="en-CN" dirty="0"/>
              <a:t> to </a:t>
            </a:r>
            <a:r>
              <a:rPr kumimoji="0" lang="en-CN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discretized ODE/linear systems</a:t>
            </a:r>
          </a:p>
          <a:p>
            <a:r>
              <a:rPr lang="en-CN" b="1" dirty="0"/>
              <a:t>Learn from data/physics laws</a:t>
            </a:r>
            <a:r>
              <a:rPr lang="en-CN" dirty="0"/>
              <a:t>: today’s talk</a:t>
            </a:r>
            <a:endParaRPr lang="en-CN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7593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0F0B3-2404-3047-B71E-8A42D8F96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>
                <a:solidFill>
                  <a:srgbClr val="FF0000"/>
                </a:solidFill>
              </a:rPr>
              <a:t>Implicit Neural </a:t>
            </a:r>
            <a:r>
              <a:rPr lang="en-CN" dirty="0">
                <a:solidFill>
                  <a:srgbClr val="0070C0"/>
                </a:solidFill>
              </a:rPr>
              <a:t>Representations</a:t>
            </a:r>
            <a:r>
              <a:rPr lang="en-CN" dirty="0"/>
              <a:t> (INRs)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E1EB0-9FFA-1346-918E-0FD966E98B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N" dirty="0"/>
              <a:t>// TODO what is INR.</a:t>
            </a:r>
          </a:p>
          <a:p>
            <a:r>
              <a:rPr lang="en-CN" dirty="0"/>
              <a:t>Use a </a:t>
            </a:r>
            <a:r>
              <a:rPr lang="en-CN" dirty="0">
                <a:solidFill>
                  <a:srgbClr val="FF0000"/>
                </a:solidFill>
              </a:rPr>
              <a:t>neural net </a:t>
            </a:r>
            <a:r>
              <a:rPr lang="en-CN" dirty="0"/>
              <a:t>to </a:t>
            </a:r>
            <a:r>
              <a:rPr lang="en-CN" dirty="0">
                <a:solidFill>
                  <a:srgbClr val="0070C0"/>
                </a:solidFill>
              </a:rPr>
              <a:t>fit (represent) </a:t>
            </a:r>
            <a:r>
              <a:rPr lang="en-CN" dirty="0"/>
              <a:t>the desired model.</a:t>
            </a:r>
          </a:p>
          <a:p>
            <a:r>
              <a:rPr lang="en-CN" dirty="0"/>
              <a:t>// TODO: why this will work – train NN to do interpolation/regression</a:t>
            </a:r>
          </a:p>
          <a:p>
            <a:r>
              <a:rPr lang="en-CN" dirty="0"/>
              <a:t>// TODO: the loss can depends on the physics law (typically), or data (optional as an aid).</a:t>
            </a:r>
          </a:p>
          <a:p>
            <a:r>
              <a:rPr lang="en-CN" dirty="0"/>
              <a:t>// TODO, note the MLPs as an example</a:t>
            </a:r>
          </a:p>
          <a:p>
            <a:r>
              <a:rPr lang="en-CN" dirty="0"/>
              <a:t>// TODO, different models/tricks exists, such as model arch (KAN) and positional embeddings (sinusoidal), but the big idea is above.</a:t>
            </a:r>
          </a:p>
        </p:txBody>
      </p:sp>
    </p:spTree>
    <p:extLst>
      <p:ext uri="{BB962C8B-B14F-4D97-AF65-F5344CB8AC3E}">
        <p14:creationId xmlns:p14="http://schemas.microsoft.com/office/powerpoint/2010/main" val="392219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0F0B3-2404-3047-B71E-8A42D8F96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INRs: The </a:t>
            </a:r>
            <a:r>
              <a:rPr lang="en-US" dirty="0"/>
              <a:t>Double Pendulum Example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E1EB0-9FFA-1346-918E-0FD966E98B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N" dirty="0"/>
              <a:t>// How To part.</a:t>
            </a:r>
          </a:p>
          <a:p>
            <a:r>
              <a:rPr lang="en-CN" dirty="0"/>
              <a:t>// TODO: Write some code, describe how to use a mlp to represent it.</a:t>
            </a:r>
          </a:p>
          <a:p>
            <a:r>
              <a:rPr lang="en-CN" dirty="0"/>
              <a:t>// a mlp that maps (x, t) to x.</a:t>
            </a:r>
          </a:p>
          <a:p>
            <a:r>
              <a:rPr lang="en-CN" dirty="0"/>
              <a:t>// LOSS(data): regression, direct MSE loss.</a:t>
            </a:r>
          </a:p>
          <a:p>
            <a:r>
              <a:rPr lang="en-CN" dirty="0"/>
              <a:t>// LOSS(data free): define losses according to the ODE and initial/boundary conditions</a:t>
            </a:r>
          </a:p>
        </p:txBody>
      </p:sp>
    </p:spTree>
    <p:extLst>
      <p:ext uri="{BB962C8B-B14F-4D97-AF65-F5344CB8AC3E}">
        <p14:creationId xmlns:p14="http://schemas.microsoft.com/office/powerpoint/2010/main" val="20326840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0F0B3-2404-3047-B71E-8A42D8F96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INRs: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E1EB0-9FFA-1346-918E-0FD966E98B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N" dirty="0"/>
              <a:t>The learned model itself is the world model!</a:t>
            </a:r>
          </a:p>
          <a:p>
            <a:r>
              <a:rPr lang="en-CN" dirty="0"/>
              <a:t>// Advantages: data is optional and the method itself can be very flexible (various applications).</a:t>
            </a:r>
          </a:p>
          <a:p>
            <a:r>
              <a:rPr lang="en-US" dirty="0"/>
              <a:t>// TODO: other names exists! E.g. PINNs. </a:t>
            </a:r>
            <a:r>
              <a:rPr lang="en-US" dirty="0" err="1"/>
              <a:t>NeRF</a:t>
            </a:r>
            <a:r>
              <a:rPr lang="en-US" dirty="0"/>
              <a:t>. They are INRs in different area/community, but the people like tends to use that name.</a:t>
            </a:r>
            <a:endParaRPr lang="en-CN" dirty="0"/>
          </a:p>
          <a:p>
            <a:r>
              <a:rPr lang="en-CN" dirty="0"/>
              <a:t>// Disadvantages: efficiency very slow to train, and per-case</a:t>
            </a:r>
          </a:p>
          <a:p>
            <a:r>
              <a:rPr lang="en-CN" dirty="0"/>
              <a:t>// Dis2: not accurate – see the paper (pinn requires near zero loss)</a:t>
            </a:r>
          </a:p>
          <a:p>
            <a:r>
              <a:rPr lang="en-CN" dirty="0"/>
              <a:t>// why: The physical law typically has higher order derivatives and the PDEs/BC/IC are actually regarded as a “penelization”</a:t>
            </a:r>
          </a:p>
          <a:p>
            <a:pPr marL="0" indent="0">
              <a:buNone/>
            </a:pP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3022559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0F0B3-2404-3047-B71E-8A42D8F96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Learn an </a:t>
            </a:r>
            <a:r>
              <a:rPr lang="en-CN" dirty="0">
                <a:solidFill>
                  <a:srgbClr val="FF0000"/>
                </a:solidFill>
              </a:rPr>
              <a:t>End</a:t>
            </a:r>
            <a:r>
              <a:rPr lang="en-CN" dirty="0"/>
              <a:t>-to-</a:t>
            </a:r>
            <a:r>
              <a:rPr lang="en-CN" dirty="0">
                <a:solidFill>
                  <a:srgbClr val="0070C0"/>
                </a:solidFill>
              </a:rPr>
              <a:t>End</a:t>
            </a:r>
            <a:r>
              <a:rPr lang="en-CN" dirty="0"/>
              <a:t> Solver (E2E)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E1EB0-9FFA-1346-918E-0FD966E98B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N" dirty="0"/>
              <a:t>Suppose we have a large set of data of some physical </a:t>
            </a:r>
            <a:r>
              <a:rPr lang="en-US" dirty="0"/>
              <a:t>phenomena, </a:t>
            </a:r>
          </a:p>
          <a:p>
            <a:r>
              <a:rPr lang="en-US" dirty="0"/>
              <a:t>Train a large neural network to “memorize”: given </a:t>
            </a:r>
            <a:r>
              <a:rPr lang="en-US" dirty="0">
                <a:solidFill>
                  <a:srgbClr val="FF0000"/>
                </a:solidFill>
              </a:rPr>
              <a:t>boundary/initial condition B, X_0</a:t>
            </a:r>
            <a:r>
              <a:rPr lang="en-US" dirty="0"/>
              <a:t>, and the state </a:t>
            </a:r>
            <a:r>
              <a:rPr lang="en-US" dirty="0" err="1">
                <a:solidFill>
                  <a:srgbClr val="0070C0"/>
                </a:solidFill>
              </a:rPr>
              <a:t>X_t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or just x_t-1 to </a:t>
            </a:r>
            <a:r>
              <a:rPr lang="en-US" dirty="0" err="1"/>
              <a:t>x_t</a:t>
            </a:r>
            <a:r>
              <a:rPr lang="en-US" dirty="0"/>
              <a:t>, with some </a:t>
            </a:r>
            <a:r>
              <a:rPr lang="en-US" dirty="0" err="1"/>
              <a:t>bc</a:t>
            </a:r>
            <a:r>
              <a:rPr lang="en-US" dirty="0"/>
              <a:t>.</a:t>
            </a:r>
          </a:p>
          <a:p>
            <a:r>
              <a:rPr lang="en-US" dirty="0"/>
              <a:t>When will be this large set available: weather </a:t>
            </a:r>
            <a:r>
              <a:rPr lang="en-US" dirty="0" err="1"/>
              <a:t>forcast</a:t>
            </a:r>
            <a:r>
              <a:rPr lang="en-US" dirty="0"/>
              <a:t>!</a:t>
            </a:r>
          </a:p>
          <a:p>
            <a:r>
              <a:rPr lang="en-US" dirty="0"/>
              <a:t>// TODO: what is E2E solver, formally.</a:t>
            </a:r>
          </a:p>
          <a:p>
            <a:r>
              <a:rPr lang="en-US" dirty="0"/>
              <a:t>// TODO: why this will work?</a:t>
            </a:r>
          </a:p>
        </p:txBody>
      </p:sp>
    </p:spTree>
    <p:extLst>
      <p:ext uri="{BB962C8B-B14F-4D97-AF65-F5344CB8AC3E}">
        <p14:creationId xmlns:p14="http://schemas.microsoft.com/office/powerpoint/2010/main" val="29476203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0F0B3-2404-3047-B71E-8A42D8F96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E2E: The </a:t>
            </a:r>
            <a:r>
              <a:rPr lang="en-US" dirty="0"/>
              <a:t>Double Pendulum Example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E1EB0-9FFA-1346-918E-0FD966E98B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N" dirty="0"/>
              <a:t>// How To part.</a:t>
            </a:r>
          </a:p>
          <a:p>
            <a:r>
              <a:rPr lang="en-US" dirty="0"/>
              <a:t>// Step 1: generate a large amount of trajectories</a:t>
            </a:r>
          </a:p>
          <a:p>
            <a:r>
              <a:rPr lang="en-US" dirty="0"/>
              <a:t>// Step 2: Train a MLP, that takes </a:t>
            </a:r>
            <a:r>
              <a:rPr lang="en-US" dirty="0" err="1"/>
              <a:t>prev</a:t>
            </a:r>
            <a:r>
              <a:rPr lang="en-US" dirty="0"/>
              <a:t> state (x, velocity), estimate next state.</a:t>
            </a:r>
          </a:p>
          <a:p>
            <a:r>
              <a:rPr lang="en-US" dirty="0"/>
              <a:t>// delta t is fixed at 0.1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46739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0F0B3-2404-3047-B71E-8A42D8F96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E2E: </a:t>
            </a:r>
            <a:r>
              <a:rPr lang="en-US" dirty="0"/>
              <a:t>Takeaways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E1EB0-9FFA-1346-918E-0FD966E98B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N" dirty="0"/>
              <a:t>Learn to evolve/predict the states in the world model.</a:t>
            </a:r>
          </a:p>
          <a:p>
            <a:r>
              <a:rPr lang="en-CN" dirty="0"/>
              <a:t>// TODO: what are people caring about in State-of-the-art works:</a:t>
            </a:r>
          </a:p>
          <a:p>
            <a:r>
              <a:rPr lang="en-CN" dirty="0"/>
              <a:t>// 1. although cnn/gnn/rnn/Transformers works, we need a better neural architecture for prediction in simulation tasks. (e.g. neural operator)</a:t>
            </a:r>
          </a:p>
          <a:p>
            <a:r>
              <a:rPr lang="en-CN" dirty="0"/>
              <a:t>// 2. Integrate physical law in the neural architecture, e.g. mass conservation</a:t>
            </a:r>
          </a:p>
          <a:p>
            <a:r>
              <a:rPr lang="en-CN" dirty="0"/>
              <a:t>// 3. Integrate physical laws/PDE in training to save data requirements</a:t>
            </a:r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756378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0F0B3-2404-3047-B71E-8A42D8F96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E2E: </a:t>
            </a:r>
            <a:r>
              <a:rPr lang="en-US" dirty="0"/>
              <a:t>Takeaways (cont.)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E1EB0-9FFA-1346-918E-0FD966E98B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CN" dirty="0"/>
              <a:t>Learn to evolve/predict the states in the world model.</a:t>
            </a:r>
          </a:p>
          <a:p>
            <a:r>
              <a:rPr lang="en-CN" dirty="0"/>
              <a:t>// Advantage 1: new case only requires a forward call of the neural net. This is super fast! </a:t>
            </a:r>
            <a:r>
              <a:rPr lang="en-US" dirty="0"/>
              <a:t>A</a:t>
            </a:r>
            <a:r>
              <a:rPr lang="en-CN" dirty="0"/>
              <a:t>nd even differentiable to your input!</a:t>
            </a:r>
          </a:p>
          <a:p>
            <a:r>
              <a:rPr lang="en-CN" dirty="0"/>
              <a:t>// Advantage 2: Developers do NOT need to understand the physics</a:t>
            </a:r>
          </a:p>
          <a:p>
            <a:r>
              <a:rPr lang="en-CN" dirty="0"/>
              <a:t>// Disadvantages: data requirement. some reviewer of my paper said, acquiring the data to train a E2E solver is not cheap, so I reject your paper!</a:t>
            </a:r>
          </a:p>
          <a:p>
            <a:r>
              <a:rPr lang="en-CN" dirty="0"/>
              <a:t>// Disadvantages 2: difficult change the parameters (e.g. delta T in our tiny example)</a:t>
            </a:r>
          </a:p>
          <a:p>
            <a:r>
              <a:rPr lang="en-CN" dirty="0"/>
              <a:t>// Disadvantages 3: also not as accurate as we think… also cannot</a:t>
            </a:r>
            <a:r>
              <a:rPr lang="zh-CN" altLang="en-US" dirty="0"/>
              <a:t> </a:t>
            </a:r>
            <a:r>
              <a:rPr lang="en-US" altLang="zh-CN" dirty="0"/>
              <a:t>extrapolates to unseen case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9220494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0F0B3-2404-3047-B71E-8A42D8F96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AI Aids for Classical Solvers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E1EB0-9FFA-1346-918E-0FD966E98B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N" dirty="0"/>
              <a:t>We need machine precision solution.</a:t>
            </a:r>
          </a:p>
          <a:p>
            <a:r>
              <a:rPr lang="en-CN" dirty="0"/>
              <a:t>We get back our PDE and classical numerical solver</a:t>
            </a:r>
          </a:p>
          <a:p>
            <a:r>
              <a:rPr lang="en-CN" dirty="0"/>
              <a:t>How to improve it? </a:t>
            </a:r>
          </a:p>
          <a:p>
            <a:r>
              <a:rPr lang="en-CN" dirty="0"/>
              <a:t>Its robustness is good, accuracy is very good. </a:t>
            </a:r>
            <a:r>
              <a:rPr lang="en-US" dirty="0"/>
              <a:t>S</a:t>
            </a:r>
            <a:r>
              <a:rPr lang="en-CN" dirty="0"/>
              <a:t>o </a:t>
            </a:r>
          </a:p>
          <a:p>
            <a:r>
              <a:rPr lang="en-CN" dirty="0"/>
              <a:t>=&gt; Improve the classical solver’s efficiency!</a:t>
            </a:r>
          </a:p>
          <a:p>
            <a:r>
              <a:rPr lang="en-CN" dirty="0"/>
              <a:t>// TODO: what it is. Why this important.</a:t>
            </a:r>
          </a:p>
        </p:txBody>
      </p:sp>
    </p:spTree>
    <p:extLst>
      <p:ext uri="{BB962C8B-B14F-4D97-AF65-F5344CB8AC3E}">
        <p14:creationId xmlns:p14="http://schemas.microsoft.com/office/powerpoint/2010/main" val="29748955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0F0B3-2404-3047-B71E-8A42D8F96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Aids:</a:t>
            </a:r>
            <a:r>
              <a:rPr lang="en-CN" dirty="0"/>
              <a:t> The </a:t>
            </a:r>
            <a:r>
              <a:rPr lang="en-US" dirty="0"/>
              <a:t>Double Pendulum Example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E1EB0-9FFA-1346-918E-0FD966E98B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N" dirty="0"/>
              <a:t>// TODO: how to.</a:t>
            </a:r>
          </a:p>
          <a:p>
            <a:r>
              <a:rPr lang="en-CN" dirty="0"/>
              <a:t>// use RK1 implicit method and we use the network to predict a preconditioner (approximate the inverse matrix)</a:t>
            </a:r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5543667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0F0B3-2404-3047-B71E-8A42D8F96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Aids:</a:t>
            </a:r>
            <a:r>
              <a:rPr lang="en-CN" dirty="0"/>
              <a:t> </a:t>
            </a:r>
            <a:r>
              <a:rPr lang="en-US" dirty="0"/>
              <a:t>Takeaways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E1EB0-9FFA-1346-918E-0FD966E98B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N" dirty="0"/>
              <a:t>// advantages: very accurate</a:t>
            </a:r>
          </a:p>
          <a:p>
            <a:r>
              <a:rPr lang="en-CN" dirty="0"/>
              <a:t>// disadvantages: you really need some domain knowledge. </a:t>
            </a:r>
            <a:r>
              <a:rPr lang="en-US" dirty="0"/>
              <a:t>S</a:t>
            </a:r>
            <a:r>
              <a:rPr lang="en-CN" dirty="0"/>
              <a:t>uch as</a:t>
            </a:r>
          </a:p>
          <a:p>
            <a:r>
              <a:rPr lang="en-CN" dirty="0"/>
              <a:t>// 1. What part is you can change? </a:t>
            </a:r>
            <a:r>
              <a:rPr lang="en-US" dirty="0"/>
              <a:t>A</a:t>
            </a:r>
            <a:r>
              <a:rPr lang="en-CN" dirty="0"/>
              <a:t>re they valuable to change?</a:t>
            </a:r>
          </a:p>
          <a:p>
            <a:r>
              <a:rPr lang="en-CN" dirty="0"/>
              <a:t>// 2. How? Is that really easy to train?</a:t>
            </a:r>
          </a:p>
          <a:p>
            <a:r>
              <a:rPr lang="en-CN" dirty="0"/>
              <a:t>// 3. </a:t>
            </a:r>
            <a:r>
              <a:rPr lang="en-US" dirty="0"/>
              <a:t>Is this method truly competitive compared to SOTAs?</a:t>
            </a:r>
          </a:p>
          <a:p>
            <a:r>
              <a:rPr lang="en-US" dirty="0"/>
              <a:t>// 4. If yes -&gt; write a paper; If not, go 1 :)</a:t>
            </a:r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41421801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0F0B3-2404-3047-B71E-8A42D8F96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Aids: Takeaways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E1EB0-9FFA-1346-918E-0FD966E98B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N" dirty="0"/>
              <a:t>// State of the arts: Preconditioners. Learn to Optimiz</a:t>
            </a:r>
          </a:p>
          <a:p>
            <a:r>
              <a:rPr lang="en-CN" dirty="0"/>
              <a:t>// e.g. learned Incomplete cholesky.</a:t>
            </a:r>
          </a:p>
          <a:p>
            <a:r>
              <a:rPr lang="en-CN" dirty="0"/>
              <a:t>// e.g. Learned Gradient Descent/SR1/BFGS</a:t>
            </a:r>
          </a:p>
          <a:p>
            <a:r>
              <a:rPr lang="en-CN" dirty="0"/>
              <a:t>// However, they are the actually same!</a:t>
            </a:r>
          </a:p>
          <a:p>
            <a:r>
              <a:rPr lang="en-CN" dirty="0"/>
              <a:t>// What you need for an optimizer? -&gt; newton’s direction!</a:t>
            </a:r>
          </a:p>
          <a:p>
            <a:r>
              <a:rPr lang="en-CN" dirty="0"/>
              <a:t>// what you need for a linear solver(for a SPD matrix)? -&gt; also newton’s direction!</a:t>
            </a:r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4641191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0F0B3-2404-3047-B71E-8A42D8F96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E1EB0-9FFA-1346-918E-0FD966E98B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N" dirty="0"/>
              <a:t>world model, and the </a:t>
            </a:r>
            <a:r>
              <a:rPr lang="en-US" dirty="0"/>
              <a:t>Double Pendulum Example</a:t>
            </a:r>
            <a:endParaRPr lang="en-CN" dirty="0"/>
          </a:p>
          <a:p>
            <a:r>
              <a:rPr lang="en-CN" dirty="0"/>
              <a:t>AI for Simulation:</a:t>
            </a:r>
          </a:p>
          <a:p>
            <a:pPr lvl="1"/>
            <a:r>
              <a:rPr lang="en-CN" dirty="0"/>
              <a:t>Implicit Neural Representations (INRs)</a:t>
            </a:r>
          </a:p>
          <a:p>
            <a:pPr lvl="1"/>
            <a:r>
              <a:rPr lang="en-CN" dirty="0"/>
              <a:t>End-to-end Neural Simulator</a:t>
            </a:r>
          </a:p>
          <a:p>
            <a:pPr lvl="1"/>
            <a:r>
              <a:rPr lang="en-CN" dirty="0"/>
              <a:t>Learned aids for classical simulator/solver</a:t>
            </a:r>
          </a:p>
        </p:txBody>
      </p:sp>
    </p:spTree>
    <p:extLst>
      <p:ext uri="{BB962C8B-B14F-4D97-AF65-F5344CB8AC3E}">
        <p14:creationId xmlns:p14="http://schemas.microsoft.com/office/powerpoint/2010/main" val="6234034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192</TotalTime>
  <Words>1173</Words>
  <Application>Microsoft Macintosh PowerPoint</Application>
  <PresentationFormat>Widescreen</PresentationFormat>
  <Paragraphs>104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Theme</vt:lpstr>
      <vt:lpstr>AI for Simulation</vt:lpstr>
      <vt:lpstr>Overview</vt:lpstr>
      <vt:lpstr>Introduction: World Model</vt:lpstr>
      <vt:lpstr>Example: Double Pendulum</vt:lpstr>
      <vt:lpstr>Example: Double Pendulum (Cont.)</vt:lpstr>
      <vt:lpstr>Introduction: World Model (cont.)</vt:lpstr>
      <vt:lpstr>Implicit Neural Representations (INRs)</vt:lpstr>
      <vt:lpstr>INRs: The Double Pendulum Example</vt:lpstr>
      <vt:lpstr>INRs: Takeaways</vt:lpstr>
      <vt:lpstr>Learn an End-to-End Solver (E2E)</vt:lpstr>
      <vt:lpstr>E2E: The Double Pendulum Example</vt:lpstr>
      <vt:lpstr>E2E: Takeaways</vt:lpstr>
      <vt:lpstr>E2E: Takeaways (cont.)</vt:lpstr>
      <vt:lpstr>Learn AI Aids for Classical Solvers</vt:lpstr>
      <vt:lpstr>AI Aids: The Double Pendulum Example</vt:lpstr>
      <vt:lpstr>AI Aids: Takeaways</vt:lpstr>
      <vt:lpstr>AI Aids: Takeaways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for Simulation</dc:title>
  <dc:creator>杨哲睿</dc:creator>
  <cp:lastModifiedBy>杨哲睿</cp:lastModifiedBy>
  <cp:revision>107</cp:revision>
  <dcterms:created xsi:type="dcterms:W3CDTF">2026-04-08T04:22:20Z</dcterms:created>
  <dcterms:modified xsi:type="dcterms:W3CDTF">2026-04-08T09:35:37Z</dcterms:modified>
</cp:coreProperties>
</file>